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583680"/>
  <p:notesSz cx="658368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2395728" cy="457200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61488" y="164592"/>
            <a:ext cx="3529584" cy="457200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64592"/>
            <a:ext cx="2249424" cy="4572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42832" y="164592"/>
            <a:ext cx="3081528" cy="4572000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2377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hologram input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53035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Off-axis hologram (one channel, 8-bit), cropped 1024² → 900² onto the phase grid (origin moved by (−6, −2) px)</a:t>
            </a:r>
            <a:endParaRPr lang="en-US" sz="750" dirty="0"/>
          </a:p>
        </p:txBody>
      </p:sp>
      <p:pic>
        <p:nvPicPr>
          <p:cNvPr id="8" name="Image 0" descr="p1_offaxis_hol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896112"/>
            <a:ext cx="1920240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" y="896112"/>
            <a:ext cx="1920240" cy="1920240"/>
          </a:xfrm>
          <a:prstGeom prst="rect">
            <a:avLst/>
          </a:prstGeom>
          <a:ln w="9525">
            <a:solidFill>
              <a:srgbClr val="9A9A9A"/>
            </a:solidFill>
            <a:prstDash val="solid"/>
          </a:ln>
        </p:spPr>
      </p:sp>
      <p:pic>
        <p:nvPicPr>
          <p:cNvPr id="10" name="Image 1" descr="p1_offaxis_z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889504"/>
            <a:ext cx="914400" cy="914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7472" y="2889504"/>
            <a:ext cx="914400" cy="914400"/>
          </a:xfrm>
          <a:prstGeom prst="rect">
            <a:avLst/>
          </a:prstGeom>
          <a:ln w="9525">
            <a:solidFill>
              <a:srgbClr val="9A9A9A"/>
            </a:solidFill>
            <a:prstDash val="solid"/>
          </a:ln>
        </p:spPr>
      </p:sp>
      <p:pic>
        <p:nvPicPr>
          <p:cNvPr id="12" name="Image 2" descr="p1_offaxis_f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2889504"/>
            <a:ext cx="914400" cy="9144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353312" y="2889504"/>
            <a:ext cx="914400" cy="914400"/>
          </a:xfrm>
          <a:prstGeom prst="rect">
            <a:avLst/>
          </a:prstGeom>
          <a:ln w="9525">
            <a:solidFill>
              <a:srgbClr val="9A9A9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47472" y="382219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fringe detail</a:t>
            </a:r>
            <a:endParaRPr lang="en-US" sz="700" dirty="0"/>
          </a:p>
        </p:txBody>
      </p:sp>
      <p:sp>
        <p:nvSpPr>
          <p:cNvPr id="15" name="Text 10"/>
          <p:cNvSpPr txBox="1"/>
          <p:nvPr/>
        </p:nvSpPr>
        <p:spPr>
          <a:xfrm>
            <a:off x="1261872" y="38221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|FFT|: DC + sidebands</a:t>
            </a:r>
            <a:endParaRPr lang="en-US" sz="700" dirty="0"/>
          </a:p>
        </p:txBody>
      </p:sp>
      <p:pic>
        <p:nvPicPr>
          <p:cNvPr id="16" name="Image 3" descr="p1_inline_holo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4005072"/>
            <a:ext cx="530352" cy="53035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47472" y="4005072"/>
            <a:ext cx="530352" cy="530352"/>
          </a:xfrm>
          <a:prstGeom prst="rect">
            <a:avLst/>
          </a:prstGeom>
          <a:ln w="9525">
            <a:solidFill>
              <a:srgbClr val="9A9A9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950976" y="398678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In-line (Gabor) hologram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field; same architecture trained separately (In-Line Neural Configuration)</a:t>
            </a:r>
            <a:endParaRPr lang="en-US" sz="680" dirty="0"/>
          </a:p>
        </p:txBody>
      </p:sp>
      <p:sp>
        <p:nvSpPr>
          <p:cNvPr id="19" name="Text 13"/>
          <p:cNvSpPr txBox="1"/>
          <p:nvPr/>
        </p:nvSpPr>
        <p:spPr>
          <a:xfrm>
            <a:off x="2871216" y="23774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network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2871216" y="53035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encoder, two decoders; no classical reconstruction in the inference path</a:t>
            </a:r>
            <a:endParaRPr lang="en-US" sz="750" dirty="0"/>
          </a:p>
        </p:txBody>
      </p:sp>
      <p:sp>
        <p:nvSpPr>
          <p:cNvPr id="21" name="Shape 15"/>
          <p:cNvSpPr/>
          <p:nvPr/>
        </p:nvSpPr>
        <p:spPr>
          <a:xfrm>
            <a:off x="2962656" y="1421892"/>
            <a:ext cx="137160" cy="1600200"/>
          </a:xfrm>
          <a:prstGeom prst="rect">
            <a:avLst/>
          </a:prstGeom>
          <a:solidFill>
            <a:srgbClr val="0072B2">
              <a:alpha val="9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182112" y="1572768"/>
            <a:ext cx="137160" cy="1298448"/>
          </a:xfrm>
          <a:prstGeom prst="rect">
            <a:avLst/>
          </a:prstGeom>
          <a:solidFill>
            <a:srgbClr val="0072B2">
              <a:alpha val="8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401568" y="1719072"/>
            <a:ext cx="137160" cy="1005840"/>
          </a:xfrm>
          <a:prstGeom prst="rect">
            <a:avLst/>
          </a:prstGeom>
          <a:solidFill>
            <a:srgbClr val="0072B2">
              <a:alpha val="74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621024" y="1856232"/>
            <a:ext cx="137160" cy="731520"/>
          </a:xfrm>
          <a:prstGeom prst="rect">
            <a:avLst/>
          </a:prstGeom>
          <a:solidFill>
            <a:srgbClr val="0072B2">
              <a:alpha val="66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840480" y="1970532"/>
            <a:ext cx="137160" cy="502920"/>
          </a:xfrm>
          <a:prstGeom prst="rect">
            <a:avLst/>
          </a:prstGeom>
          <a:solidFill>
            <a:srgbClr val="0072B2">
              <a:alpha val="5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2916936" y="30906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encoder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(ImageNet init.), 1 input channel; features at strides 2–32</a:t>
            </a:r>
            <a:endParaRPr lang="en-US" sz="680" dirty="0"/>
          </a:p>
        </p:txBody>
      </p:sp>
      <p:sp>
        <p:nvSpPr>
          <p:cNvPr id="27" name="Shape 21"/>
          <p:cNvSpPr/>
          <p:nvPr/>
        </p:nvSpPr>
        <p:spPr>
          <a:xfrm>
            <a:off x="4425696" y="1293876"/>
            <a:ext cx="137160" cy="301752"/>
          </a:xfrm>
          <a:prstGeom prst="rect">
            <a:avLst/>
          </a:prstGeom>
          <a:solidFill>
            <a:srgbClr val="0072B2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617720" y="1248613"/>
            <a:ext cx="137160" cy="392278"/>
          </a:xfrm>
          <a:prstGeom prst="rect">
            <a:avLst/>
          </a:prstGeom>
          <a:solidFill>
            <a:srgbClr val="0072B2">
              <a:alpha val="73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809744" y="1203350"/>
            <a:ext cx="137160" cy="482803"/>
          </a:xfrm>
          <a:prstGeom prst="rect">
            <a:avLst/>
          </a:prstGeom>
          <a:solidFill>
            <a:srgbClr val="0072B2">
              <a:alpha val="81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001768" y="1158088"/>
            <a:ext cx="137160" cy="573329"/>
          </a:xfrm>
          <a:prstGeom prst="rect">
            <a:avLst/>
          </a:prstGeom>
          <a:solidFill>
            <a:srgbClr val="0072B2">
              <a:alpha val="89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379976" y="17739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decoder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256/128/64/32</a:t>
            </a:r>
            <a:endParaRPr lang="en-US" sz="680" dirty="0"/>
          </a:p>
        </p:txBody>
      </p:sp>
      <p:sp>
        <p:nvSpPr>
          <p:cNvPr id="32" name="Shape 26"/>
          <p:cNvSpPr/>
          <p:nvPr/>
        </p:nvSpPr>
        <p:spPr>
          <a:xfrm>
            <a:off x="5285232" y="1106424"/>
            <a:ext cx="896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285232" y="1106424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head (rad)</a:t>
            </a:r>
            <a:endParaRPr lang="en-US" sz="680" dirty="0"/>
          </a:p>
        </p:txBody>
      </p:sp>
      <p:sp>
        <p:nvSpPr>
          <p:cNvPr id="34" name="Shape 28"/>
          <p:cNvSpPr/>
          <p:nvPr/>
        </p:nvSpPr>
        <p:spPr>
          <a:xfrm>
            <a:off x="5285232" y="1417320"/>
            <a:ext cx="896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882255"/>
            </a:solidFill>
            <a:prstDash val="dash"/>
          </a:ln>
        </p:spPr>
      </p:sp>
      <p:sp>
        <p:nvSpPr>
          <p:cNvPr id="35" name="Text 29"/>
          <p:cNvSpPr txBox="1"/>
          <p:nvPr/>
        </p:nvSpPr>
        <p:spPr>
          <a:xfrm>
            <a:off x="5285232" y="1417320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amplitude head*</a:t>
            </a:r>
            <a:endParaRPr lang="en-US" sz="680" dirty="0"/>
          </a:p>
        </p:txBody>
      </p:sp>
      <p:sp>
        <p:nvSpPr>
          <p:cNvPr id="36" name="Shape 30"/>
          <p:cNvSpPr/>
          <p:nvPr/>
        </p:nvSpPr>
        <p:spPr>
          <a:xfrm>
            <a:off x="4425696" y="2711196"/>
            <a:ext cx="137160" cy="301752"/>
          </a:xfrm>
          <a:prstGeom prst="rect">
            <a:avLst/>
          </a:prstGeom>
          <a:solidFill>
            <a:srgbClr val="0072B2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617720" y="2665933"/>
            <a:ext cx="137160" cy="392278"/>
          </a:xfrm>
          <a:prstGeom prst="rect">
            <a:avLst/>
          </a:prstGeom>
          <a:solidFill>
            <a:srgbClr val="0072B2">
              <a:alpha val="73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809744" y="2620670"/>
            <a:ext cx="137160" cy="482803"/>
          </a:xfrm>
          <a:prstGeom prst="rect">
            <a:avLst/>
          </a:prstGeom>
          <a:solidFill>
            <a:srgbClr val="0072B2">
              <a:alpha val="81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001768" y="2575408"/>
            <a:ext cx="137160" cy="573329"/>
          </a:xfrm>
          <a:prstGeom prst="rect">
            <a:avLst/>
          </a:prstGeom>
          <a:solidFill>
            <a:srgbClr val="0072B2">
              <a:alpha val="89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4379976" y="31912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decoder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256/128/64/32</a:t>
            </a:r>
            <a:endParaRPr lang="en-US" sz="680" dirty="0"/>
          </a:p>
        </p:txBody>
      </p:sp>
      <p:sp>
        <p:nvSpPr>
          <p:cNvPr id="41" name="Shape 35"/>
          <p:cNvSpPr/>
          <p:nvPr/>
        </p:nvSpPr>
        <p:spPr>
          <a:xfrm>
            <a:off x="5285232" y="2743200"/>
            <a:ext cx="89611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5285232" y="2743200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2-class head</a:t>
            </a:r>
            <a:endParaRPr lang="en-US" sz="680" dirty="0"/>
          </a:p>
        </p:txBody>
      </p:sp>
      <p:sp>
        <p:nvSpPr>
          <p:cNvPr id="43" name="Shape 37"/>
          <p:cNvSpPr/>
          <p:nvPr/>
        </p:nvSpPr>
        <p:spPr>
          <a:xfrm flipV="1">
            <a:off x="4014216" y="1444752"/>
            <a:ext cx="374904" cy="68580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4" name="Shape 38"/>
          <p:cNvSpPr/>
          <p:nvPr/>
        </p:nvSpPr>
        <p:spPr>
          <a:xfrm>
            <a:off x="4014216" y="2313432"/>
            <a:ext cx="374904" cy="54864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5" name="Text 39"/>
          <p:cNvSpPr txBox="1"/>
          <p:nvPr/>
        </p:nvSpPr>
        <p:spPr>
          <a:xfrm>
            <a:off x="2871216" y="362102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 skip connections from every encoder stage; outputs at stride 2, bilinearly upsampled to 900²</a:t>
            </a:r>
            <a:endParaRPr lang="en-US" sz="680" dirty="0"/>
          </a:p>
        </p:txBody>
      </p:sp>
      <p:sp>
        <p:nvSpPr>
          <p:cNvPr id="46" name="Shape 40"/>
          <p:cNvSpPr/>
          <p:nvPr/>
        </p:nvSpPr>
        <p:spPr>
          <a:xfrm>
            <a:off x="2889504" y="4123944"/>
            <a:ext cx="1664208" cy="256032"/>
          </a:xfrm>
          <a:prstGeom prst="roundRect">
            <a:avLst>
              <a:gd name="adj" fmla="val 17857"/>
            </a:avLst>
          </a:prstGeom>
          <a:solidFill>
            <a:srgbClr val="DCEAF4"/>
          </a:solidFill>
          <a:ln w="9525">
            <a:solidFill>
              <a:srgbClr val="0072B2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2889504" y="412394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9.60 M parameters · 45.85 GMAC</a:t>
            </a:r>
            <a:endParaRPr lang="en-US" sz="700" dirty="0"/>
          </a:p>
        </p:txBody>
      </p:sp>
      <p:sp>
        <p:nvSpPr>
          <p:cNvPr id="48" name="Shape 42"/>
          <p:cNvSpPr/>
          <p:nvPr/>
        </p:nvSpPr>
        <p:spPr>
          <a:xfrm>
            <a:off x="4608576" y="4123944"/>
            <a:ext cx="1572768" cy="256032"/>
          </a:xfrm>
          <a:prstGeom prst="roundRect">
            <a:avLst>
              <a:gd name="adj" fmla="val 17857"/>
            </a:avLst>
          </a:prstGeom>
          <a:solidFill>
            <a:srgbClr val="D9F0E8"/>
          </a:solidFill>
          <a:ln w="9525">
            <a:solidFill>
              <a:srgbClr val="009E73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4608576" y="41239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Compact: 256-ch projection, 3.36 M</a:t>
            </a:r>
            <a:endParaRPr lang="en-US" sz="700" dirty="0"/>
          </a:p>
        </p:txBody>
      </p:sp>
      <p:sp>
        <p:nvSpPr>
          <p:cNvPr id="50" name="Text 44"/>
          <p:cNvSpPr txBox="1"/>
          <p:nvPr/>
        </p:nvSpPr>
        <p:spPr>
          <a:xfrm>
            <a:off x="2889504" y="442569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amplitude head only in +Amplitude and +Fwd configurations</a:t>
            </a:r>
            <a:endParaRPr lang="en-US" sz="630" dirty="0"/>
          </a:p>
        </p:txBody>
      </p:sp>
      <p:sp>
        <p:nvSpPr>
          <p:cNvPr id="51" name="Text 45"/>
          <p:cNvSpPr txBox="1"/>
          <p:nvPr/>
        </p:nvSpPr>
        <p:spPr>
          <a:xfrm>
            <a:off x="6601968" y="23774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fields</a:t>
            </a:r>
            <a:endParaRPr lang="en-US" sz="1250" dirty="0"/>
          </a:p>
        </p:txBody>
      </p:sp>
      <p:pic>
        <p:nvPicPr>
          <p:cNvPr id="52" name="Image 4" descr="p3_phase_p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603504"/>
            <a:ext cx="1024128" cy="1024128"/>
          </a:xfrm>
          <a:prstGeom prst="rect">
            <a:avLst/>
          </a:prstGeom>
        </p:spPr>
      </p:pic>
      <p:sp>
        <p:nvSpPr>
          <p:cNvPr id="53" name="Shape 46"/>
          <p:cNvSpPr/>
          <p:nvPr/>
        </p:nvSpPr>
        <p:spPr>
          <a:xfrm>
            <a:off x="6675120" y="603504"/>
            <a:ext cx="1024128" cy="1024128"/>
          </a:xfrm>
          <a:prstGeom prst="rect">
            <a:avLst/>
          </a:prstGeom>
          <a:ln w="9525">
            <a:solidFill>
              <a:srgbClr val="9A9A9A"/>
            </a:solidFill>
            <a:prstDash val="solid"/>
          </a:ln>
        </p:spPr>
      </p:sp>
      <p:pic>
        <p:nvPicPr>
          <p:cNvPr id="54" name="Image 5" descr="p3_phase_colorb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2" y="676656"/>
            <a:ext cx="109728" cy="877824"/>
          </a:xfrm>
          <a:prstGeom prst="rect">
            <a:avLst/>
          </a:prstGeom>
        </p:spPr>
      </p:pic>
      <p:sp>
        <p:nvSpPr>
          <p:cNvPr id="55" name="Shape 47"/>
          <p:cNvSpPr/>
          <p:nvPr/>
        </p:nvSpPr>
        <p:spPr>
          <a:xfrm>
            <a:off x="7754112" y="676656"/>
            <a:ext cx="109728" cy="877824"/>
          </a:xfrm>
          <a:prstGeom prst="rect">
            <a:avLst/>
          </a:prstGeom>
          <a:ln w="9525">
            <a:solidFill>
              <a:srgbClr val="9A9A9A"/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7900416" y="68580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30" dirty="0"/>
          </a:p>
        </p:txBody>
      </p:sp>
      <p:sp>
        <p:nvSpPr>
          <p:cNvPr id="57" name="Text 49"/>
          <p:cNvSpPr txBox="1"/>
          <p:nvPr/>
        </p:nvSpPr>
        <p:spPr>
          <a:xfrm>
            <a:off x="7900416" y="97840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30" dirty="0"/>
          </a:p>
        </p:txBody>
      </p:sp>
      <p:sp>
        <p:nvSpPr>
          <p:cNvPr id="58" name="Text 50"/>
          <p:cNvSpPr txBox="1"/>
          <p:nvPr/>
        </p:nvSpPr>
        <p:spPr>
          <a:xfrm>
            <a:off x="7900416" y="127101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30" dirty="0"/>
          </a:p>
        </p:txBody>
      </p:sp>
      <p:sp>
        <p:nvSpPr>
          <p:cNvPr id="59" name="Text 51"/>
          <p:cNvSpPr txBox="1"/>
          <p:nvPr/>
        </p:nvSpPr>
        <p:spPr>
          <a:xfrm>
            <a:off x="6620256" y="165506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phase (rad)</a:t>
            </a:r>
            <a:endParaRPr lang="en-US" sz="720" dirty="0"/>
          </a:p>
        </p:txBody>
      </p:sp>
      <p:pic>
        <p:nvPicPr>
          <p:cNvPr id="60" name="Image 6" descr="p3_amplitude_p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1993392"/>
            <a:ext cx="1024128" cy="1024128"/>
          </a:xfrm>
          <a:prstGeom prst="rect">
            <a:avLst/>
          </a:prstGeom>
        </p:spPr>
      </p:pic>
      <p:sp>
        <p:nvSpPr>
          <p:cNvPr id="61" name="Shape 52"/>
          <p:cNvSpPr/>
          <p:nvPr/>
        </p:nvSpPr>
        <p:spPr>
          <a:xfrm>
            <a:off x="6675120" y="1993392"/>
            <a:ext cx="1024128" cy="1024128"/>
          </a:xfrm>
          <a:prstGeom prst="rect">
            <a:avLst/>
          </a:prstGeom>
          <a:ln w="9525">
            <a:solidFill>
              <a:srgbClr val="9A9A9A"/>
            </a:solidFill>
            <a:prstDash val="solid"/>
          </a:ln>
        </p:spPr>
      </p:sp>
      <p:pic>
        <p:nvPicPr>
          <p:cNvPr id="62" name="Image 7" descr="p3_amplitude_colorb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4112" y="2066544"/>
            <a:ext cx="109728" cy="877824"/>
          </a:xfrm>
          <a:prstGeom prst="rect">
            <a:avLst/>
          </a:prstGeom>
        </p:spPr>
      </p:pic>
      <p:sp>
        <p:nvSpPr>
          <p:cNvPr id="63" name="Shape 53"/>
          <p:cNvSpPr/>
          <p:nvPr/>
        </p:nvSpPr>
        <p:spPr>
          <a:xfrm>
            <a:off x="7754112" y="2066544"/>
            <a:ext cx="109728" cy="877824"/>
          </a:xfrm>
          <a:prstGeom prst="rect">
            <a:avLst/>
          </a:prstGeom>
          <a:ln w="9525">
            <a:solidFill>
              <a:srgbClr val="9A9A9A"/>
            </a:solidFill>
            <a:prstDash val="solid"/>
          </a:ln>
        </p:spPr>
      </p:sp>
      <p:sp>
        <p:nvSpPr>
          <p:cNvPr id="64" name="Text 54"/>
          <p:cNvSpPr txBox="1"/>
          <p:nvPr/>
        </p:nvSpPr>
        <p:spPr>
          <a:xfrm>
            <a:off x="7900416" y="200253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endParaRPr lang="en-US" sz="630" dirty="0"/>
          </a:p>
        </p:txBody>
      </p:sp>
      <p:sp>
        <p:nvSpPr>
          <p:cNvPr id="65" name="Text 55"/>
          <p:cNvSpPr txBox="1"/>
          <p:nvPr/>
        </p:nvSpPr>
        <p:spPr>
          <a:xfrm>
            <a:off x="7900416" y="28803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630" dirty="0"/>
          </a:p>
        </p:txBody>
      </p:sp>
      <p:sp>
        <p:nvSpPr>
          <p:cNvPr id="66" name="Text 56"/>
          <p:cNvSpPr txBox="1"/>
          <p:nvPr/>
        </p:nvSpPr>
        <p:spPr>
          <a:xfrm>
            <a:off x="6620256" y="30449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Transmitted amplitude*</a:t>
            </a:r>
            <a:endParaRPr lang="en-US" sz="720" dirty="0"/>
          </a:p>
        </p:txBody>
      </p:sp>
      <p:pic>
        <p:nvPicPr>
          <p:cNvPr id="67" name="Image 8" descr="p3_segmentation_pr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3383280"/>
            <a:ext cx="1024128" cy="1024128"/>
          </a:xfrm>
          <a:prstGeom prst="rect">
            <a:avLst/>
          </a:prstGeom>
        </p:spPr>
      </p:pic>
      <p:sp>
        <p:nvSpPr>
          <p:cNvPr id="68" name="Shape 57"/>
          <p:cNvSpPr/>
          <p:nvPr/>
        </p:nvSpPr>
        <p:spPr>
          <a:xfrm>
            <a:off x="6675120" y="3383280"/>
            <a:ext cx="1024128" cy="1024128"/>
          </a:xfrm>
          <a:prstGeom prst="rect">
            <a:avLst/>
          </a:prstGeom>
          <a:ln w="9525">
            <a:solidFill>
              <a:srgbClr val="9A9A9A"/>
            </a:solidFill>
            <a:prstDash val="solid"/>
          </a:ln>
        </p:spPr>
      </p:sp>
      <p:sp>
        <p:nvSpPr>
          <p:cNvPr id="69" name="Text 58"/>
          <p:cNvSpPr txBox="1"/>
          <p:nvPr/>
        </p:nvSpPr>
        <p:spPr>
          <a:xfrm>
            <a:off x="6620256" y="443484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segmentation (instances)</a:t>
            </a:r>
            <a:endParaRPr lang="en-US" sz="720" dirty="0"/>
          </a:p>
        </p:txBody>
      </p:sp>
      <p:sp>
        <p:nvSpPr>
          <p:cNvPr id="70" name="Text 59"/>
          <p:cNvSpPr txBox="1"/>
          <p:nvPr/>
        </p:nvSpPr>
        <p:spPr>
          <a:xfrm>
            <a:off x="7717536" y="52120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</a:t>
            </a:r>
            <a:endParaRPr lang="en-US" sz="630" dirty="0"/>
          </a:p>
        </p:txBody>
      </p:sp>
      <p:sp>
        <p:nvSpPr>
          <p:cNvPr id="71" name="Text 60"/>
          <p:cNvSpPr txBox="1"/>
          <p:nvPr/>
        </p:nvSpPr>
        <p:spPr>
          <a:xfrm>
            <a:off x="8156448" y="2011680"/>
            <a:ext cx="658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+Amplitude / +Fwd only; agreement is with a reconstruction-derived amplitude, not a measured one</a:t>
            </a:r>
            <a:endParaRPr lang="en-US" sz="600" dirty="0"/>
          </a:p>
        </p:txBody>
      </p:sp>
      <p:sp>
        <p:nvSpPr>
          <p:cNvPr id="72" name="Text 61"/>
          <p:cNvSpPr txBox="1"/>
          <p:nvPr/>
        </p:nvSpPr>
        <p:spPr>
          <a:xfrm>
            <a:off x="7790688" y="3456432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2-class map →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watershed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instances;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=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only</a:t>
            </a:r>
            <a:endParaRPr lang="en-US" sz="650" dirty="0"/>
          </a:p>
        </p:txBody>
      </p:sp>
      <p:sp>
        <p:nvSpPr>
          <p:cNvPr id="73" name="Text 62"/>
          <p:cNvSpPr txBox="1"/>
          <p:nvPr/>
        </p:nvSpPr>
        <p:spPr>
          <a:xfrm>
            <a:off x="9052560" y="237744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Per-cell measurement</a:t>
            </a:r>
            <a:endParaRPr lang="en-US" sz="1250" dirty="0"/>
          </a:p>
        </p:txBody>
      </p:sp>
      <p:pic>
        <p:nvPicPr>
          <p:cNvPr id="74" name="Image 9" descr="p4_measurement_overla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9136" y="621792"/>
            <a:ext cx="1463040" cy="1463040"/>
          </a:xfrm>
          <a:prstGeom prst="rect">
            <a:avLst/>
          </a:prstGeom>
        </p:spPr>
      </p:pic>
      <p:sp>
        <p:nvSpPr>
          <p:cNvPr id="75" name="Shape 63"/>
          <p:cNvSpPr/>
          <p:nvPr/>
        </p:nvSpPr>
        <p:spPr>
          <a:xfrm>
            <a:off x="9089136" y="621792"/>
            <a:ext cx="1463040" cy="1463040"/>
          </a:xfrm>
          <a:prstGeom prst="rect">
            <a:avLst/>
          </a:prstGeom>
          <a:ln w="9525">
            <a:solidFill>
              <a:srgbClr val="9A9A9A"/>
            </a:solidFill>
            <a:prstDash val="solid"/>
          </a:ln>
        </p:spPr>
      </p:sp>
      <p:sp>
        <p:nvSpPr>
          <p:cNvPr id="76" name="Text 64"/>
          <p:cNvSpPr txBox="1"/>
          <p:nvPr/>
        </p:nvSpPr>
        <p:spPr>
          <a:xfrm>
            <a:off x="10625328" y="640080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k, predicted phase φ over its domain Ωₖ:</a:t>
            </a:r>
            <a:endParaRPr lang="en-US" sz="72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Aₖ = Nₖ dx dy</a:t>
            </a:r>
            <a:endParaRPr lang="en-US" sz="72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Cₖ = min(1, 4π Nₖ / Pₖ²)</a:t>
            </a:r>
            <a:endParaRPr lang="en-US" sz="72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Sₖ = Σ φ dx dy</a:t>
            </a:r>
            <a:endParaRPr lang="en-US" sz="72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mₖ = λ / (2πα) · Sₖ</a:t>
            </a:r>
            <a:endParaRPr lang="en-US" sz="720" dirty="0"/>
          </a:p>
        </p:txBody>
      </p:sp>
      <p:sp>
        <p:nvSpPr>
          <p:cNvPr id="77" name="Text 65"/>
          <p:cNvSpPr txBox="1"/>
          <p:nvPr/>
        </p:nvSpPr>
        <p:spPr>
          <a:xfrm>
            <a:off x="10625328" y="1645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0.666 µm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0.2 mL/g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= dy = 0.285 µm</a:t>
            </a:r>
            <a:endParaRPr lang="en-US" sz="650" dirty="0"/>
          </a:p>
        </p:txBody>
      </p:sp>
      <p:sp>
        <p:nvSpPr>
          <p:cNvPr id="78" name="Shape 66"/>
          <p:cNvSpPr/>
          <p:nvPr/>
        </p:nvSpPr>
        <p:spPr>
          <a:xfrm>
            <a:off x="9089136" y="2377440"/>
            <a:ext cx="2788920" cy="365760"/>
          </a:xfrm>
          <a:prstGeom prst="roundRect">
            <a:avLst>
              <a:gd name="adj" fmla="val 15000"/>
            </a:avLst>
          </a:prstGeom>
          <a:solidFill>
            <a:srgbClr val="DCEAF4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79" name="Text 67"/>
          <p:cNvSpPr txBox="1"/>
          <p:nvPr/>
        </p:nvSpPr>
        <p:spPr>
          <a:xfrm>
            <a:off x="9198864" y="237744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mass  </a:t>
            </a:r>
            <a:pPr indent="0" marL="0">
              <a:buNone/>
            </a:pPr>
            <a:r>
              <a:rPr lang="en-US" sz="7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per cell (primary quantity)</a:t>
            </a:r>
            <a:endParaRPr lang="en-US" sz="780" dirty="0"/>
          </a:p>
        </p:txBody>
      </p:sp>
      <p:sp>
        <p:nvSpPr>
          <p:cNvPr id="80" name="Shape 68"/>
          <p:cNvSpPr/>
          <p:nvPr/>
        </p:nvSpPr>
        <p:spPr>
          <a:xfrm>
            <a:off x="9089136" y="2807208"/>
            <a:ext cx="2788920" cy="365760"/>
          </a:xfrm>
          <a:prstGeom prst="roundRect">
            <a:avLst>
              <a:gd name="adj" fmla="val 15000"/>
            </a:avLst>
          </a:prstGeom>
          <a:solidFill>
            <a:srgbClr val="F4F6F8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81" name="Text 69"/>
          <p:cNvSpPr txBox="1"/>
          <p:nvPr/>
        </p:nvSpPr>
        <p:spPr>
          <a:xfrm>
            <a:off x="9198864" y="280720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area  </a:t>
            </a:r>
            <a:pPr indent="0" marL="0">
              <a:buNone/>
            </a:pPr>
            <a:r>
              <a:rPr lang="en-US" sz="7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µm² per cell</a:t>
            </a:r>
            <a:endParaRPr lang="en-US" sz="780" dirty="0"/>
          </a:p>
        </p:txBody>
      </p:sp>
      <p:sp>
        <p:nvSpPr>
          <p:cNvPr id="82" name="Shape 70"/>
          <p:cNvSpPr/>
          <p:nvPr/>
        </p:nvSpPr>
        <p:spPr>
          <a:xfrm>
            <a:off x="9089136" y="3236976"/>
            <a:ext cx="2788920" cy="365760"/>
          </a:xfrm>
          <a:prstGeom prst="roundRect">
            <a:avLst>
              <a:gd name="adj" fmla="val 15000"/>
            </a:avLst>
          </a:prstGeom>
          <a:solidFill>
            <a:srgbClr val="F4F6F8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83" name="Text 71"/>
          <p:cNvSpPr txBox="1"/>
          <p:nvPr/>
        </p:nvSpPr>
        <p:spPr>
          <a:xfrm>
            <a:off x="9198864" y="3236976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Circularity  </a:t>
            </a:r>
            <a:pPr indent="0" marL="0">
              <a:buNone/>
            </a:pPr>
            <a:r>
              <a:rPr lang="en-US" sz="7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descriptor, 0–1</a:t>
            </a:r>
            <a:endParaRPr lang="en-US" sz="780" dirty="0"/>
          </a:p>
        </p:txBody>
      </p:sp>
      <p:sp>
        <p:nvSpPr>
          <p:cNvPr id="84" name="Shape 72"/>
          <p:cNvSpPr/>
          <p:nvPr/>
        </p:nvSpPr>
        <p:spPr>
          <a:xfrm>
            <a:off x="9089136" y="3666744"/>
            <a:ext cx="2788920" cy="365760"/>
          </a:xfrm>
          <a:prstGeom prst="roundRect">
            <a:avLst>
              <a:gd name="adj" fmla="val 15000"/>
            </a:avLst>
          </a:prstGeom>
          <a:solidFill>
            <a:srgbClr val="F4F6F8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85" name="Text 73"/>
          <p:cNvSpPr txBox="1"/>
          <p:nvPr/>
        </p:nvSpPr>
        <p:spPr>
          <a:xfrm>
            <a:off x="9198864" y="3666744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phase Sₖ  </a:t>
            </a:r>
            <a:pPr indent="0" marL="0">
              <a:buNone/>
            </a:pPr>
            <a:r>
              <a:rPr lang="en-US" sz="7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rad·µm² per cell (30–6000 µm² cells)</a:t>
            </a:r>
            <a:endParaRPr lang="en-US" sz="780" dirty="0"/>
          </a:p>
        </p:txBody>
      </p:sp>
      <p:sp>
        <p:nvSpPr>
          <p:cNvPr id="86" name="Text 74"/>
          <p:cNvSpPr txBox="1"/>
          <p:nvPr/>
        </p:nvSpPr>
        <p:spPr>
          <a:xfrm>
            <a:off x="9089136" y="414223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Counts: detection recall and precision reported alongside, because per-cell errors are computed only for detected and matched cells</a:t>
            </a:r>
            <a:endParaRPr lang="en-US" sz="660" dirty="0"/>
          </a:p>
        </p:txBody>
      </p:sp>
      <p:sp>
        <p:nvSpPr>
          <p:cNvPr id="87" name="Shape 75"/>
          <p:cNvSpPr/>
          <p:nvPr/>
        </p:nvSpPr>
        <p:spPr>
          <a:xfrm>
            <a:off x="2578608" y="2176272"/>
            <a:ext cx="164592" cy="91"/>
          </a:xfrm>
          <a:prstGeom prst="line">
            <a:avLst/>
          </a:prstGeom>
          <a:noFill/>
          <a:ln w="19050">
            <a:solidFill>
              <a:srgbClr val="0072B2"/>
            </a:solidFill>
            <a:prstDash val="solid"/>
            <a:tailEnd type="triangle"/>
          </a:ln>
        </p:spPr>
      </p:sp>
      <p:sp>
        <p:nvSpPr>
          <p:cNvPr id="88" name="Shape 76"/>
          <p:cNvSpPr/>
          <p:nvPr/>
        </p:nvSpPr>
        <p:spPr>
          <a:xfrm>
            <a:off x="6309360" y="2176272"/>
            <a:ext cx="164592" cy="91"/>
          </a:xfrm>
          <a:prstGeom prst="line">
            <a:avLst/>
          </a:prstGeom>
          <a:noFill/>
          <a:ln w="19050">
            <a:solidFill>
              <a:srgbClr val="0072B2"/>
            </a:solidFill>
            <a:prstDash val="solid"/>
            <a:tailEnd type="triangle"/>
          </a:ln>
        </p:spPr>
      </p:sp>
      <p:sp>
        <p:nvSpPr>
          <p:cNvPr id="89" name="Shape 77"/>
          <p:cNvSpPr/>
          <p:nvPr/>
        </p:nvSpPr>
        <p:spPr>
          <a:xfrm>
            <a:off x="8759952" y="2176272"/>
            <a:ext cx="164592" cy="91"/>
          </a:xfrm>
          <a:prstGeom prst="line">
            <a:avLst/>
          </a:prstGeom>
          <a:noFill/>
          <a:ln w="19050">
            <a:solidFill>
              <a:srgbClr val="0072B2"/>
            </a:solidFill>
            <a:prstDash val="solid"/>
            <a:tailEnd type="triangle"/>
          </a:ln>
        </p:spPr>
      </p:sp>
      <p:sp>
        <p:nvSpPr>
          <p:cNvPr id="90" name="Shape 78"/>
          <p:cNvSpPr/>
          <p:nvPr/>
        </p:nvSpPr>
        <p:spPr>
          <a:xfrm>
            <a:off x="164592" y="4892040"/>
            <a:ext cx="61264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91" name="Text 79"/>
          <p:cNvSpPr txBox="1"/>
          <p:nvPr/>
        </p:nvSpPr>
        <p:spPr>
          <a:xfrm>
            <a:off x="274320" y="4946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 and training objective</a:t>
            </a:r>
            <a:endParaRPr lang="en-US" sz="1250" dirty="0"/>
          </a:p>
        </p:txBody>
      </p:sp>
      <p:pic>
        <p:nvPicPr>
          <p:cNvPr id="92" name="Image 10" descr="p2_reference_phas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" y="5276088"/>
            <a:ext cx="713232" cy="713232"/>
          </a:xfrm>
          <a:prstGeom prst="rect">
            <a:avLst/>
          </a:prstGeom>
        </p:spPr>
      </p:pic>
      <p:sp>
        <p:nvSpPr>
          <p:cNvPr id="93" name="Shape 80"/>
          <p:cNvSpPr/>
          <p:nvPr/>
        </p:nvSpPr>
        <p:spPr>
          <a:xfrm>
            <a:off x="347472" y="5276088"/>
            <a:ext cx="713232" cy="713232"/>
          </a:xfrm>
          <a:prstGeom prst="rect">
            <a:avLst/>
          </a:prstGeom>
          <a:ln w="9525">
            <a:solidFill>
              <a:srgbClr val="9A9A9A"/>
            </a:solidFill>
            <a:prstDash val="solid"/>
          </a:ln>
        </p:spPr>
      </p:sp>
      <p:pic>
        <p:nvPicPr>
          <p:cNvPr id="94" name="Image 11" descr="p2_reference_label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3856" y="5276088"/>
            <a:ext cx="713232" cy="713232"/>
          </a:xfrm>
          <a:prstGeom prst="rect">
            <a:avLst/>
          </a:prstGeom>
        </p:spPr>
      </p:pic>
      <p:sp>
        <p:nvSpPr>
          <p:cNvPr id="95" name="Shape 81"/>
          <p:cNvSpPr/>
          <p:nvPr/>
        </p:nvSpPr>
        <p:spPr>
          <a:xfrm>
            <a:off x="1133856" y="5276088"/>
            <a:ext cx="713232" cy="713232"/>
          </a:xfrm>
          <a:prstGeom prst="rect">
            <a:avLst/>
          </a:prstGeom>
          <a:ln w="9525">
            <a:solidFill>
              <a:srgbClr val="9A9A9A"/>
            </a:solidFill>
            <a:prstDash val="solid"/>
          </a:ln>
        </p:spPr>
      </p:sp>
      <p:sp>
        <p:nvSpPr>
          <p:cNvPr id="96" name="Text 82"/>
          <p:cNvSpPr txBox="1"/>
          <p:nvPr/>
        </p:nvSpPr>
        <p:spPr>
          <a:xfrm>
            <a:off x="347472" y="6007608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phase</a:t>
            </a:r>
            <a:endParaRPr lang="en-US" sz="650" dirty="0"/>
          </a:p>
        </p:txBody>
      </p:sp>
      <p:sp>
        <p:nvSpPr>
          <p:cNvPr id="97" name="Text 83"/>
          <p:cNvSpPr txBox="1"/>
          <p:nvPr/>
        </p:nvSpPr>
        <p:spPr>
          <a:xfrm>
            <a:off x="1133856" y="6007608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Otsu labels</a:t>
            </a:r>
            <a:endParaRPr lang="en-US" sz="650" dirty="0"/>
          </a:p>
        </p:txBody>
      </p:sp>
      <p:sp>
        <p:nvSpPr>
          <p:cNvPr id="98" name="Text 84"/>
          <p:cNvSpPr txBox="1"/>
          <p:nvPr/>
        </p:nvSpPr>
        <p:spPr>
          <a:xfrm>
            <a:off x="310896" y="6172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are derived from the reference phase (no manual annotation)</a:t>
            </a:r>
            <a:endParaRPr lang="en-US" sz="620" dirty="0"/>
          </a:p>
        </p:txBody>
      </p:sp>
      <p:sp>
        <p:nvSpPr>
          <p:cNvPr id="99" name="Text 85"/>
          <p:cNvSpPr txBox="1"/>
          <p:nvPr/>
        </p:nvSpPr>
        <p:spPr>
          <a:xfrm>
            <a:off x="2039112" y="52852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configuration:  </a:t>
            </a:r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ℒphase = L1 + 0.5·|∇| + 0.2·(1−SSIM)    ℒseg = Dice + CE</a:t>
            </a:r>
            <a:endParaRPr lang="en-US" sz="750" dirty="0"/>
          </a:p>
        </p:txBody>
      </p:sp>
      <p:sp>
        <p:nvSpPr>
          <p:cNvPr id="100" name="Text 86"/>
          <p:cNvSpPr txBox="1"/>
          <p:nvPr/>
        </p:nvSpPr>
        <p:spPr>
          <a:xfrm>
            <a:off x="2039112" y="55504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one term at a time (ablations):</a:t>
            </a:r>
            <a:endParaRPr lang="en-US" sz="720" dirty="0"/>
          </a:p>
        </p:txBody>
      </p:sp>
      <p:sp>
        <p:nvSpPr>
          <p:cNvPr id="101" name="Text 87"/>
          <p:cNvSpPr txBox="1"/>
          <p:nvPr/>
        </p:nvSpPr>
        <p:spPr>
          <a:xfrm>
            <a:off x="2039112" y="578815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measurement-aware</a:t>
            </a:r>
            <a:endParaRPr lang="en-US" sz="680" dirty="0"/>
          </a:p>
        </p:txBody>
      </p:sp>
      <p:sp>
        <p:nvSpPr>
          <p:cNvPr id="102" name="Shape 88"/>
          <p:cNvSpPr/>
          <p:nvPr/>
        </p:nvSpPr>
        <p:spPr>
          <a:xfrm>
            <a:off x="3136392" y="5788152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FBE6DA"/>
          </a:solidFill>
          <a:ln w="9525">
            <a:solidFill>
              <a:srgbClr val="D55E00"/>
            </a:solidFill>
            <a:prstDash val="solid"/>
          </a:ln>
        </p:spPr>
      </p:sp>
      <p:sp>
        <p:nvSpPr>
          <p:cNvPr id="103" name="Text 89"/>
          <p:cNvSpPr txBox="1"/>
          <p:nvPr/>
        </p:nvSpPr>
        <p:spPr>
          <a:xfrm>
            <a:off x="3136392" y="5788152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+IPP (per-cell)</a:t>
            </a:r>
            <a:endParaRPr lang="en-US" sz="700" dirty="0"/>
          </a:p>
        </p:txBody>
      </p:sp>
      <p:sp>
        <p:nvSpPr>
          <p:cNvPr id="104" name="Shape 90"/>
          <p:cNvSpPr/>
          <p:nvPr/>
        </p:nvSpPr>
        <p:spPr>
          <a:xfrm>
            <a:off x="4069080" y="5788152"/>
            <a:ext cx="777240" cy="246888"/>
          </a:xfrm>
          <a:prstGeom prst="roundRect">
            <a:avLst>
              <a:gd name="adj" fmla="val 18519"/>
            </a:avLst>
          </a:prstGeom>
          <a:solidFill>
            <a:srgbClr val="FBE6DA"/>
          </a:solidFill>
          <a:ln w="9525">
            <a:solidFill>
              <a:srgbClr val="D55E00"/>
            </a:solidFill>
            <a:prstDash val="solid"/>
          </a:ln>
        </p:spPr>
      </p:sp>
      <p:sp>
        <p:nvSpPr>
          <p:cNvPr id="105" name="Text 91"/>
          <p:cNvSpPr txBox="1"/>
          <p:nvPr/>
        </p:nvSpPr>
        <p:spPr>
          <a:xfrm>
            <a:off x="4069080" y="578815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+IPP (image)</a:t>
            </a:r>
            <a:endParaRPr lang="en-US" sz="700" dirty="0"/>
          </a:p>
        </p:txBody>
      </p:sp>
      <p:sp>
        <p:nvSpPr>
          <p:cNvPr id="106" name="Shape 92"/>
          <p:cNvSpPr/>
          <p:nvPr/>
        </p:nvSpPr>
        <p:spPr>
          <a:xfrm>
            <a:off x="4910328" y="5788152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FBE6DA"/>
          </a:solidFill>
          <a:ln w="9525">
            <a:solidFill>
              <a:srgbClr val="D55E00"/>
            </a:solidFill>
            <a:prstDash val="solid"/>
          </a:ln>
        </p:spPr>
      </p:sp>
      <p:sp>
        <p:nvSpPr>
          <p:cNvPr id="107" name="Text 93"/>
          <p:cNvSpPr txBox="1"/>
          <p:nvPr/>
        </p:nvSpPr>
        <p:spPr>
          <a:xfrm>
            <a:off x="4910328" y="578815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+Area</a:t>
            </a:r>
            <a:endParaRPr lang="en-US" sz="700" dirty="0"/>
          </a:p>
        </p:txBody>
      </p:sp>
      <p:sp>
        <p:nvSpPr>
          <p:cNvPr id="108" name="Shape 94"/>
          <p:cNvSpPr/>
          <p:nvPr/>
        </p:nvSpPr>
        <p:spPr>
          <a:xfrm>
            <a:off x="5477256" y="5788152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FBE6DA"/>
          </a:solidFill>
          <a:ln w="9525">
            <a:solidFill>
              <a:srgbClr val="D55E00"/>
            </a:solidFill>
            <a:prstDash val="solid"/>
          </a:ln>
        </p:spPr>
      </p:sp>
      <p:sp>
        <p:nvSpPr>
          <p:cNvPr id="109" name="Text 95"/>
          <p:cNvSpPr txBox="1"/>
          <p:nvPr/>
        </p:nvSpPr>
        <p:spPr>
          <a:xfrm>
            <a:off x="5477256" y="578815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+BGA</a:t>
            </a:r>
            <a:endParaRPr lang="en-US" sz="700" dirty="0"/>
          </a:p>
        </p:txBody>
      </p:sp>
      <p:sp>
        <p:nvSpPr>
          <p:cNvPr id="110" name="Text 96"/>
          <p:cNvSpPr txBox="1"/>
          <p:nvPr/>
        </p:nvSpPr>
        <p:spPr>
          <a:xfrm>
            <a:off x="2039112" y="608076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882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forward model</a:t>
            </a:r>
            <a:endParaRPr lang="en-US" sz="680" dirty="0"/>
          </a:p>
        </p:txBody>
      </p:sp>
      <p:sp>
        <p:nvSpPr>
          <p:cNvPr id="111" name="Shape 97"/>
          <p:cNvSpPr/>
          <p:nvPr/>
        </p:nvSpPr>
        <p:spPr>
          <a:xfrm>
            <a:off x="3136392" y="6080760"/>
            <a:ext cx="731520" cy="246888"/>
          </a:xfrm>
          <a:prstGeom prst="roundRect">
            <a:avLst>
              <a:gd name="adj" fmla="val 18519"/>
            </a:avLst>
          </a:prstGeom>
          <a:solidFill>
            <a:srgbClr val="F2E1EA"/>
          </a:solidFill>
          <a:ln w="9525">
            <a:solidFill>
              <a:srgbClr val="882255"/>
            </a:solidFill>
            <a:prstDash val="solid"/>
          </a:ln>
        </p:spPr>
      </p:sp>
      <p:sp>
        <p:nvSpPr>
          <p:cNvPr id="112" name="Text 98"/>
          <p:cNvSpPr txBox="1"/>
          <p:nvPr/>
        </p:nvSpPr>
        <p:spPr>
          <a:xfrm>
            <a:off x="3136392" y="608076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+Amplitude</a:t>
            </a:r>
            <a:endParaRPr lang="en-US" sz="700" dirty="0"/>
          </a:p>
        </p:txBody>
      </p:sp>
      <p:sp>
        <p:nvSpPr>
          <p:cNvPr id="113" name="Shape 99"/>
          <p:cNvSpPr/>
          <p:nvPr/>
        </p:nvSpPr>
        <p:spPr>
          <a:xfrm>
            <a:off x="3886200" y="6204204"/>
            <a:ext cx="146304" cy="91"/>
          </a:xfrm>
          <a:prstGeom prst="line">
            <a:avLst/>
          </a:prstGeom>
          <a:noFill/>
          <a:ln w="19050">
            <a:solidFill>
              <a:srgbClr val="882255"/>
            </a:solidFill>
            <a:prstDash val="solid"/>
            <a:tailEnd type="triangle"/>
          </a:ln>
        </p:spPr>
      </p:sp>
      <p:sp>
        <p:nvSpPr>
          <p:cNvPr id="114" name="Shape 100"/>
          <p:cNvSpPr/>
          <p:nvPr/>
        </p:nvSpPr>
        <p:spPr>
          <a:xfrm>
            <a:off x="4050792" y="6080760"/>
            <a:ext cx="1188720" cy="246888"/>
          </a:xfrm>
          <a:prstGeom prst="roundRect">
            <a:avLst>
              <a:gd name="adj" fmla="val 18519"/>
            </a:avLst>
          </a:prstGeom>
          <a:solidFill>
            <a:srgbClr val="F2E1EA"/>
          </a:solidFill>
          <a:ln w="9525">
            <a:solidFill>
              <a:srgbClr val="882255"/>
            </a:solidFill>
            <a:prstDash val="solid"/>
          </a:ln>
        </p:spPr>
      </p:sp>
      <p:sp>
        <p:nvSpPr>
          <p:cNvPr id="115" name="Text 101"/>
          <p:cNvSpPr txBox="1"/>
          <p:nvPr/>
        </p:nvSpPr>
        <p:spPr>
          <a:xfrm>
            <a:off x="4050792" y="608076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+Fwd (fixed / free z)</a:t>
            </a:r>
            <a:endParaRPr lang="en-US" sz="700" dirty="0"/>
          </a:p>
        </p:txBody>
      </p:sp>
      <p:sp>
        <p:nvSpPr>
          <p:cNvPr id="116" name="Text 102"/>
          <p:cNvSpPr txBox="1"/>
          <p:nvPr/>
        </p:nvSpPr>
        <p:spPr>
          <a:xfrm>
            <a:off x="5312664" y="608076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hologram forward model on Â·exp(iφ)</a:t>
            </a:r>
            <a:endParaRPr lang="en-US" sz="620" dirty="0"/>
          </a:p>
        </p:txBody>
      </p:sp>
      <p:sp>
        <p:nvSpPr>
          <p:cNvPr id="117" name="Shape 103"/>
          <p:cNvSpPr/>
          <p:nvPr/>
        </p:nvSpPr>
        <p:spPr>
          <a:xfrm>
            <a:off x="6492240" y="4892040"/>
            <a:ext cx="55321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18" name="Text 104"/>
          <p:cNvSpPr txBox="1"/>
          <p:nvPr/>
        </p:nvSpPr>
        <p:spPr>
          <a:xfrm>
            <a:off x="6601968" y="4946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on the measurand</a:t>
            </a:r>
            <a:endParaRPr lang="en-US" sz="1250" dirty="0"/>
          </a:p>
        </p:txBody>
      </p:sp>
      <p:sp>
        <p:nvSpPr>
          <p:cNvPr id="119" name="Shape 105"/>
          <p:cNvSpPr/>
          <p:nvPr/>
        </p:nvSpPr>
        <p:spPr>
          <a:xfrm>
            <a:off x="6638544" y="5276088"/>
            <a:ext cx="1709928" cy="896112"/>
          </a:xfrm>
          <a:prstGeom prst="roundRect">
            <a:avLst>
              <a:gd name="adj" fmla="val 6122"/>
            </a:avLst>
          </a:prstGeom>
          <a:solidFill>
            <a:srgbClr val="DCEAF4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20" name="Text 106"/>
          <p:cNvSpPr txBox="1"/>
          <p:nvPr/>
        </p:nvSpPr>
        <p:spPr>
          <a:xfrm>
            <a:off x="6711696" y="5330952"/>
            <a:ext cx="1563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reference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per-cell MAPE over matched cells (IoU ≥ 0.5), with recall, coverage-adjusted MAPE and per-field Bland–Altman</a:t>
            </a:r>
            <a:endParaRPr lang="en-US" sz="700" dirty="0"/>
          </a:p>
        </p:txBody>
      </p:sp>
      <p:sp>
        <p:nvSpPr>
          <p:cNvPr id="121" name="Shape 107"/>
          <p:cNvSpPr/>
          <p:nvPr/>
        </p:nvSpPr>
        <p:spPr>
          <a:xfrm>
            <a:off x="8403336" y="5276088"/>
            <a:ext cx="1709928" cy="896112"/>
          </a:xfrm>
          <a:prstGeom prst="roundRect">
            <a:avLst>
              <a:gd name="adj" fmla="val 6122"/>
            </a:avLst>
          </a:prstGeom>
          <a:solidFill>
            <a:srgbClr val="EDEDED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22" name="Text 108"/>
          <p:cNvSpPr txBox="1"/>
          <p:nvPr/>
        </p:nvSpPr>
        <p:spPr>
          <a:xfrm>
            <a:off x="8476488" y="5330952"/>
            <a:ext cx="1563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Classical Pipeline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angular-spectrum reconstruction + the same segmentation labelling and measurement chain; off-axis and in-line</a:t>
            </a:r>
            <a:endParaRPr lang="en-US" sz="700" dirty="0"/>
          </a:p>
        </p:txBody>
      </p:sp>
      <p:sp>
        <p:nvSpPr>
          <p:cNvPr id="123" name="Shape 109"/>
          <p:cNvSpPr/>
          <p:nvPr/>
        </p:nvSpPr>
        <p:spPr>
          <a:xfrm>
            <a:off x="10168128" y="5276088"/>
            <a:ext cx="1709928" cy="896112"/>
          </a:xfrm>
          <a:prstGeom prst="roundRect">
            <a:avLst>
              <a:gd name="adj" fmla="val 6122"/>
            </a:avLst>
          </a:prstGeom>
          <a:solidFill>
            <a:srgbClr val="F4F6F8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124" name="Text 110"/>
          <p:cNvSpPr txBox="1"/>
          <p:nvPr/>
        </p:nvSpPr>
        <p:spPr>
          <a:xfrm>
            <a:off x="10241280" y="5330952"/>
            <a:ext cx="1563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Model-free error floor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boundary shifts propagated to area and mass; chain checked on analytic fields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HoloQPI Figure 1 overview</dc:title>
  <dc:subject>PptxGenJS Presentation</dc:subject>
  <dc:creator>PptxGenJS</dc:creator>
  <cp:lastModifiedBy>PptxGenJS</cp:lastModifiedBy>
  <cp:revision>1</cp:revision>
  <dcterms:created xsi:type="dcterms:W3CDTF">2026-10-01T05:52:13Z</dcterms:created>
  <dcterms:modified xsi:type="dcterms:W3CDTF">2026-10-01T05:52:13Z</dcterms:modified>
</cp:coreProperties>
</file>